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2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6BCD75-35EB-4ED2-9336-5A3A7A3DA5AB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6E9C9B-0C34-4952-B9CB-9B99D2D78E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58280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6E9C9B-0C34-4952-B9CB-9B99D2D78EE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22414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635F47-E66B-9C2D-3E82-C8CBC9668F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282FF1-9E15-209D-4FA8-4D9E7CAE93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651D0F-7997-8F14-21DF-056F4C1558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FE577D-6770-D7AC-37B2-28CF7E825A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6E9C9B-0C34-4952-B9CB-9B99D2D78EE8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33272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D0EDB6-EEDD-4188-9467-5116D7D0EDB3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2102A-CAC8-4A85-8C52-9679935631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3655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D0EDB6-EEDD-4188-9467-5116D7D0EDB3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EE12102A-CAC8-4A85-8C52-9679935631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99769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D0EDB6-EEDD-4188-9467-5116D7D0EDB3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2102A-CAC8-4A85-8C52-9679935631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70233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D0EDB6-EEDD-4188-9467-5116D7D0EDB3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2102A-CAC8-4A85-8C52-9679935631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21959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D0EDB6-EEDD-4188-9467-5116D7D0EDB3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2102A-CAC8-4A85-8C52-9679935631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9245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D0EDB6-EEDD-4188-9467-5116D7D0EDB3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2102A-CAC8-4A85-8C52-9679935631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98162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D0EDB6-EEDD-4188-9467-5116D7D0EDB3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2102A-CAC8-4A85-8C52-9679935631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28926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D0EDB6-EEDD-4188-9467-5116D7D0EDB3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2102A-CAC8-4A85-8C52-9679935631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25553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D0EDB6-EEDD-4188-9467-5116D7D0EDB3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2102A-CAC8-4A85-8C52-9679935631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93426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D0EDB6-EEDD-4188-9467-5116D7D0EDB3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2102A-CAC8-4A85-8C52-9679935631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02448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D0EDB6-EEDD-4188-9467-5116D7D0EDB3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2102A-CAC8-4A85-8C52-9679935631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88056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D0EDB6-EEDD-4188-9467-5116D7D0EDB3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2102A-CAC8-4A85-8C52-9679935631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763255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D0EDB6-EEDD-4188-9467-5116D7D0EDB3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2102A-CAC8-4A85-8C52-9679935631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189830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D0EDB6-EEDD-4188-9467-5116D7D0EDB3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2102A-CAC8-4A85-8C52-9679935631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13576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D0EDB6-EEDD-4188-9467-5116D7D0EDB3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2102A-CAC8-4A85-8C52-9679935631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745158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D0EDB6-EEDD-4188-9467-5116D7D0EDB3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2102A-CAC8-4A85-8C52-9679935631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926900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D0EDB6-EEDD-4188-9467-5116D7D0EDB3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2102A-CAC8-4A85-8C52-9679935631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99213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23D0EDB6-EEDD-4188-9467-5116D7D0EDB3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EE12102A-CAC8-4A85-8C52-9679935631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42529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FDAA7-2740-56B6-B4D0-C8B09EEA19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31919" y="1397000"/>
            <a:ext cx="7571103" cy="2599267"/>
          </a:xfrm>
        </p:spPr>
        <p:txBody>
          <a:bodyPr>
            <a:normAutofit fontScale="90000"/>
          </a:bodyPr>
          <a:lstStyle/>
          <a:p>
            <a:pPr algn="l"/>
            <a:r>
              <a:rPr lang="en-US" sz="6600" i="1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Calculator- A Discrete Structures Project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B92AA57-88F1-6BC8-785A-1F8F549AC1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93467" y="4089400"/>
            <a:ext cx="4509555" cy="2599267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en-US" sz="4600" i="1" dirty="0">
                <a:ln w="3175" cmpd="sng">
                  <a:noFill/>
                </a:ln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Presented by:</a:t>
            </a:r>
            <a:br>
              <a:rPr lang="en-US" sz="4600" i="1" dirty="0">
                <a:ln w="3175" cmpd="sng">
                  <a:noFill/>
                </a:ln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</a:br>
            <a:r>
              <a:rPr lang="en-US" sz="4600" i="1" dirty="0">
                <a:ln w="3175" cmpd="sng">
                  <a:noFill/>
                </a:ln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	Abdullah Ayub</a:t>
            </a:r>
            <a:br>
              <a:rPr lang="en-US" sz="4600" i="1" dirty="0">
                <a:ln w="3175" cmpd="sng">
                  <a:noFill/>
                </a:ln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</a:br>
            <a:r>
              <a:rPr lang="en-US" sz="4600" i="1" dirty="0">
                <a:ln w="3175" cmpd="sng">
                  <a:noFill/>
                </a:ln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	Ahad Ali Saeed</a:t>
            </a:r>
            <a:br>
              <a:rPr lang="en-US" sz="4600" i="1" dirty="0">
                <a:ln w="3175" cmpd="sng">
                  <a:noFill/>
                </a:ln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</a:br>
            <a:r>
              <a:rPr lang="en-US" sz="4600" i="1" dirty="0">
                <a:ln w="3175" cmpd="sng">
                  <a:noFill/>
                </a:ln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	Sufyan Ahmad</a:t>
            </a:r>
            <a:endParaRPr lang="en-US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65962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AF353-5726-0F9E-A54A-4C95458D42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194734"/>
            <a:ext cx="10018713" cy="2150533"/>
          </a:xfrm>
        </p:spPr>
        <p:txBody>
          <a:bodyPr>
            <a:normAutofit/>
          </a:bodyPr>
          <a:lstStyle/>
          <a:p>
            <a:r>
              <a:rPr lang="en-US" sz="4600" i="1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A6CD7C-5C1B-3748-8D37-4D8C23F27F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642533"/>
            <a:ext cx="10018713" cy="4792134"/>
          </a:xfrm>
        </p:spPr>
        <p:txBody>
          <a:bodyPr/>
          <a:lstStyle/>
          <a:p>
            <a:r>
              <a:rPr lang="en-US" sz="36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About</a:t>
            </a:r>
          </a:p>
          <a:p>
            <a:pPr marL="0" indent="0">
              <a:buNone/>
            </a:pPr>
            <a:r>
              <a:rPr lang="en-US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	A comprehensive multi-functional calculator that demonstrates core discrete structures concepts through practical implementation.</a:t>
            </a:r>
          </a:p>
          <a:p>
            <a:r>
              <a:rPr lang="en-US" sz="36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Why this project?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Bridges the gap between theoretical concepts and practical applications.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Provides hands-on understanding of discrete mathematics .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Demonstrates real-world relevance of discrete structures in computer science.</a:t>
            </a:r>
          </a:p>
        </p:txBody>
      </p:sp>
    </p:spTree>
    <p:extLst>
      <p:ext uri="{BB962C8B-B14F-4D97-AF65-F5344CB8AC3E}">
        <p14:creationId xmlns:p14="http://schemas.microsoft.com/office/powerpoint/2010/main" val="8251472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E252E1-D0FE-4746-34C1-13DB44874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186268"/>
            <a:ext cx="10018713" cy="1820332"/>
          </a:xfrm>
        </p:spPr>
        <p:txBody>
          <a:bodyPr/>
          <a:lstStyle/>
          <a:p>
            <a:r>
              <a:rPr lang="en-US" sz="4600" i="1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E4EAEC-268A-B4E3-0435-3ED8C059C5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6934" y="1667933"/>
            <a:ext cx="10216090" cy="4428067"/>
          </a:xfrm>
        </p:spPr>
        <p:txBody>
          <a:bodyPr>
            <a:normAutofit fontScale="92500"/>
          </a:bodyPr>
          <a:lstStyle/>
          <a:p>
            <a:r>
              <a:rPr lang="en-US" sz="26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Implement number system conversions</a:t>
            </a:r>
          </a:p>
          <a:p>
            <a:pPr marL="0" indent="0">
              <a:buNone/>
            </a:pPr>
            <a:r>
              <a:rPr lang="en-US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	</a:t>
            </a:r>
            <a:r>
              <a:rPr lang="en-US" sz="22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Binary, Octal, Decimal, Hexadecimal </a:t>
            </a:r>
          </a:p>
          <a:p>
            <a:r>
              <a:rPr lang="en-US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Perform set operations</a:t>
            </a:r>
          </a:p>
          <a:p>
            <a:pPr marL="0" indent="0">
              <a:buNone/>
            </a:pPr>
            <a:r>
              <a:rPr lang="en-US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	</a:t>
            </a:r>
            <a:r>
              <a:rPr lang="en-US" sz="22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Union, Intersection, Difference, Cardinality </a:t>
            </a:r>
          </a:p>
          <a:p>
            <a:r>
              <a:rPr lang="en-US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Demonstrate searching algorithms</a:t>
            </a:r>
          </a:p>
          <a:p>
            <a:pPr marL="0" indent="0">
              <a:buNone/>
            </a:pPr>
            <a:r>
              <a:rPr lang="en-US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	</a:t>
            </a:r>
            <a:r>
              <a:rPr lang="en-US" sz="22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Binary Search, linear search</a:t>
            </a:r>
          </a:p>
          <a:p>
            <a:r>
              <a:rPr lang="en-US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Implement sorting algorithms</a:t>
            </a:r>
          </a:p>
          <a:p>
            <a:pPr marL="0" indent="0">
              <a:buNone/>
            </a:pPr>
            <a:r>
              <a:rPr lang="en-US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	</a:t>
            </a:r>
            <a:r>
              <a:rPr lang="en-US" sz="22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Bubble Sort, Selection Sort, Insertion Sort</a:t>
            </a:r>
          </a:p>
          <a:p>
            <a:r>
              <a:rPr lang="en-US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Create an interactive tool combining multiple discrete math concepts</a:t>
            </a:r>
          </a:p>
        </p:txBody>
      </p:sp>
    </p:spTree>
    <p:extLst>
      <p:ext uri="{BB962C8B-B14F-4D97-AF65-F5344CB8AC3E}">
        <p14:creationId xmlns:p14="http://schemas.microsoft.com/office/powerpoint/2010/main" val="31385921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D07C2C-13D8-2C6B-E651-AB6483348D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1032933"/>
            <a:ext cx="10018713" cy="1617134"/>
          </a:xfrm>
        </p:spPr>
        <p:txBody>
          <a:bodyPr/>
          <a:lstStyle/>
          <a:p>
            <a:r>
              <a:rPr lang="en-US" sz="4600" i="1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Core Concepts Implemented: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F485D8-4E35-9B96-3CC5-7C730FD733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61067" y="1964267"/>
            <a:ext cx="9741956" cy="3793066"/>
          </a:xfrm>
        </p:spPr>
        <p:txBody>
          <a:bodyPr>
            <a:normAutofit/>
          </a:bodyPr>
          <a:lstStyle/>
          <a:p>
            <a:r>
              <a:rPr lang="en-US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Number Systems &amp; Base Conversions.</a:t>
            </a:r>
          </a:p>
          <a:p>
            <a:r>
              <a:rPr lang="en-US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Set Theory &amp; Set Operations.</a:t>
            </a:r>
          </a:p>
          <a:p>
            <a:r>
              <a:rPr lang="en-US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Searching Algorithms.</a:t>
            </a:r>
          </a:p>
          <a:p>
            <a:r>
              <a:rPr lang="en-US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Sorting Algorithms</a:t>
            </a:r>
          </a:p>
        </p:txBody>
      </p:sp>
    </p:spTree>
    <p:extLst>
      <p:ext uri="{BB962C8B-B14F-4D97-AF65-F5344CB8AC3E}">
        <p14:creationId xmlns:p14="http://schemas.microsoft.com/office/powerpoint/2010/main" val="30465633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1AE3A7-0DB4-C3B8-6828-E23E90D279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76200"/>
            <a:ext cx="10018713" cy="1456267"/>
          </a:xfrm>
        </p:spPr>
        <p:txBody>
          <a:bodyPr>
            <a:normAutofit/>
          </a:bodyPr>
          <a:lstStyle/>
          <a:p>
            <a:r>
              <a:rPr lang="en-US" sz="4600" i="1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NUMBER SYSTEMS - WHAT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3AA917-0D0F-3BC8-7610-AD52B6DC82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219199"/>
            <a:ext cx="10018713" cy="5215467"/>
          </a:xfrm>
        </p:spPr>
        <p:txBody>
          <a:bodyPr>
            <a:normAutofit/>
          </a:bodyPr>
          <a:lstStyle/>
          <a:p>
            <a:r>
              <a:rPr lang="en-US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What are Number Systems?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	Different methods to represent numerical values. Each system uses a specific base. </a:t>
            </a:r>
          </a:p>
          <a:p>
            <a:r>
              <a:rPr lang="en-US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Types of Number Systems: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Binary (Base-2): Uses digits 0, 1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Octal (Base-8): Uses digits 0-7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Decimal (Base-10): Uses digits 0-9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Hexadecimal (Base-16): Uses digits 0-9, A-F </a:t>
            </a:r>
          </a:p>
          <a:p>
            <a:r>
              <a:rPr lang="en-US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Why Multiple Number Systems?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 Essential for computer architecture.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 Used in digital electronics and programming.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Efficient data representation and storage.</a:t>
            </a:r>
          </a:p>
        </p:txBody>
      </p:sp>
    </p:spTree>
    <p:extLst>
      <p:ext uri="{BB962C8B-B14F-4D97-AF65-F5344CB8AC3E}">
        <p14:creationId xmlns:p14="http://schemas.microsoft.com/office/powerpoint/2010/main" val="33513458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EC4256-D739-4D5A-1E74-26A51CEB5B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160869"/>
            <a:ext cx="10018713" cy="1439332"/>
          </a:xfrm>
        </p:spPr>
        <p:txBody>
          <a:bodyPr/>
          <a:lstStyle/>
          <a:p>
            <a:r>
              <a:rPr lang="en-US" sz="4600" i="1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NUMBER SYSTEMS - HOW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7DEC1B-E71C-C866-EE08-CCB7ED360B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422400"/>
            <a:ext cx="10018713" cy="5003800"/>
          </a:xfrm>
        </p:spPr>
        <p:txBody>
          <a:bodyPr>
            <a:normAutofit fontScale="92500" lnSpcReduction="20000"/>
          </a:bodyPr>
          <a:lstStyle/>
          <a:p>
            <a:r>
              <a:rPr lang="en-US" sz="42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Conversion Methods: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6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Decimal to Binary:</a:t>
            </a:r>
          </a:p>
          <a:p>
            <a:pPr marL="457200" lvl="1" indent="0">
              <a:buNone/>
            </a:pPr>
            <a:r>
              <a:rPr lang="en-US" sz="26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	</a:t>
            </a:r>
            <a:r>
              <a:rPr lang="en-US" sz="24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- Repeatedly divide by 2</a:t>
            </a:r>
          </a:p>
          <a:p>
            <a:pPr marL="457200" lvl="1" indent="0">
              <a:buNone/>
            </a:pPr>
            <a:r>
              <a:rPr lang="en-US" sz="24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	- Record remainders in reverse order</a:t>
            </a:r>
          </a:p>
          <a:p>
            <a:pPr marL="457200" lvl="1" indent="0">
              <a:buNone/>
            </a:pPr>
            <a:r>
              <a:rPr lang="en-US" sz="26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	</a:t>
            </a:r>
            <a:r>
              <a:rPr lang="en-US" sz="24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- Example: 13₁₀ = 1101₂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6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Binary to Decimal:</a:t>
            </a:r>
          </a:p>
          <a:p>
            <a:pPr marL="457200" lvl="1" indent="0">
              <a:buNone/>
            </a:pPr>
            <a:r>
              <a:rPr lang="en-US" sz="26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	</a:t>
            </a:r>
            <a:r>
              <a:rPr lang="en-US" sz="24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- Use positional notation (powers of 2)</a:t>
            </a:r>
          </a:p>
          <a:p>
            <a:pPr marL="457200" lvl="1" indent="0">
              <a:buNone/>
            </a:pPr>
            <a:r>
              <a:rPr lang="en-US" sz="24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	- Example: 1101₂ = 1×2³ + 1×2² + 0×2¹ + 1×2⁰ = 13₁₀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6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Our Implementation:</a:t>
            </a:r>
          </a:p>
          <a:p>
            <a:pPr marL="457200" lvl="1" indent="0">
              <a:buNone/>
            </a:pPr>
            <a:r>
              <a:rPr lang="en-US" sz="24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	- Automatic conversion between all four number systems</a:t>
            </a:r>
          </a:p>
          <a:p>
            <a:pPr marL="457200" lvl="1" indent="0">
              <a:buNone/>
            </a:pPr>
            <a:r>
              <a:rPr lang="en-US" sz="24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	- Support for arithmetic operations in different bases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40100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AEFDE3-A289-4C9E-BA3B-E4F87C341A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84667"/>
            <a:ext cx="10018713" cy="1413934"/>
          </a:xfrm>
        </p:spPr>
        <p:txBody>
          <a:bodyPr/>
          <a:lstStyle/>
          <a:p>
            <a:r>
              <a:rPr lang="en-US" sz="4600" i="1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SET THEORY - WHAT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0C49E4-400E-A59C-4C65-CB65C555EA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185333"/>
            <a:ext cx="10018713" cy="5384800"/>
          </a:xfrm>
        </p:spPr>
        <p:txBody>
          <a:bodyPr>
            <a:normAutofit fontScale="92500" lnSpcReduction="10000"/>
          </a:bodyPr>
          <a:lstStyle/>
          <a:p>
            <a:r>
              <a:rPr lang="en-US" sz="26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What are Sets?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	A </a:t>
            </a:r>
            <a:r>
              <a:rPr lang="en-US" sz="2200" dirty="0"/>
              <a:t>collection of distinct, well-defined elements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200" dirty="0"/>
              <a:t>	Fundamental concept in discrete mathematics</a:t>
            </a:r>
          </a:p>
          <a:p>
            <a:r>
              <a:rPr lang="en-US" sz="26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Basic Set Operations: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200" dirty="0"/>
              <a:t>Union (A ∪ B)</a:t>
            </a:r>
          </a:p>
          <a:p>
            <a:pPr marL="0" indent="0">
              <a:buNone/>
            </a:pPr>
            <a:r>
              <a:rPr lang="en-US" dirty="0"/>
              <a:t>		- All elements from both sets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200" dirty="0"/>
              <a:t>Intersection (A ∩ B)</a:t>
            </a:r>
          </a:p>
          <a:p>
            <a:pPr marL="0" indent="0">
              <a:buNone/>
            </a:pPr>
            <a:r>
              <a:rPr lang="en-US" dirty="0"/>
              <a:t>		- Common elements in both sets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200" dirty="0"/>
              <a:t>Difference (A - B)</a:t>
            </a:r>
          </a:p>
          <a:p>
            <a:pPr marL="0" indent="0">
              <a:buNone/>
            </a:pPr>
            <a:r>
              <a:rPr lang="en-US" dirty="0"/>
              <a:t>		- Elements in A but not in B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200" dirty="0"/>
              <a:t>Cardinality |A|</a:t>
            </a:r>
          </a:p>
          <a:p>
            <a:pPr marL="457200" lvl="1" indent="0">
              <a:buNone/>
            </a:pPr>
            <a:r>
              <a:rPr lang="en-US" dirty="0"/>
              <a:t>	- Number of elements in a set</a:t>
            </a:r>
          </a:p>
        </p:txBody>
      </p:sp>
    </p:spTree>
    <p:extLst>
      <p:ext uri="{BB962C8B-B14F-4D97-AF65-F5344CB8AC3E}">
        <p14:creationId xmlns:p14="http://schemas.microsoft.com/office/powerpoint/2010/main" val="202492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10FFD8-80A4-C9EA-F8DE-06FD0CDFB1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76200"/>
            <a:ext cx="10018713" cy="1202267"/>
          </a:xfrm>
        </p:spPr>
        <p:txBody>
          <a:bodyPr/>
          <a:lstStyle/>
          <a:p>
            <a:r>
              <a:rPr lang="en-US" sz="4600" i="1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SET THEORY - HOW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E32FF0-FF4A-C643-EB69-C043E4ABCC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176867"/>
            <a:ext cx="10018713" cy="5283200"/>
          </a:xfrm>
        </p:spPr>
        <p:txBody>
          <a:bodyPr>
            <a:normAutofit lnSpcReduction="10000"/>
          </a:bodyPr>
          <a:lstStyle/>
          <a:p>
            <a:r>
              <a:rPr lang="en-US" sz="28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Example with Numbers: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200" dirty="0"/>
              <a:t>Given: A = {1, 2, 3}  and  B = {2, 3, 4}</a:t>
            </a:r>
          </a:p>
          <a:p>
            <a:r>
              <a:rPr lang="en-US" sz="28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Operations: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200" dirty="0"/>
              <a:t>Union: A ∪ B = {1, 2, 3, 4}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200" dirty="0"/>
              <a:t>Intersection: A ∩ B = {2, 3}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200" dirty="0"/>
              <a:t>Difference: A - B = {1}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200" dirty="0"/>
              <a:t>Cardinality: |A| = 3, |B| = 3</a:t>
            </a:r>
          </a:p>
          <a:p>
            <a:r>
              <a:rPr lang="en-US" sz="28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Implementation: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200" dirty="0"/>
              <a:t>User inputs two sets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200" dirty="0"/>
              <a:t>Calculator performs selected operation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200" dirty="0"/>
              <a:t>Displays result with visual representation</a:t>
            </a:r>
          </a:p>
        </p:txBody>
      </p:sp>
    </p:spTree>
    <p:extLst>
      <p:ext uri="{BB962C8B-B14F-4D97-AF65-F5344CB8AC3E}">
        <p14:creationId xmlns:p14="http://schemas.microsoft.com/office/powerpoint/2010/main" val="39131025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C47602-2A06-E7B9-0DF6-1A1FA483D1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110068"/>
            <a:ext cx="10018713" cy="1515532"/>
          </a:xfrm>
        </p:spPr>
        <p:txBody>
          <a:bodyPr/>
          <a:lstStyle/>
          <a:p>
            <a:r>
              <a:rPr lang="en-US" sz="4600" i="1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SEARCHING ALGORITHMS - WHAT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8D67D1-A210-94C0-19A5-D64B80DE4D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380067"/>
            <a:ext cx="10018713" cy="5249333"/>
          </a:xfrm>
        </p:spPr>
        <p:txBody>
          <a:bodyPr>
            <a:normAutofit fontScale="92500" lnSpcReduction="10000"/>
          </a:bodyPr>
          <a:lstStyle/>
          <a:p>
            <a:r>
              <a:rPr lang="en-US" sz="3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What is Binary Search?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400" dirty="0"/>
              <a:t>An efficient algorithm to find an element in a sorted array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400" dirty="0"/>
              <a:t>Uses divide and conquer strategy</a:t>
            </a:r>
          </a:p>
          <a:p>
            <a:r>
              <a:rPr lang="en-US" sz="3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Key Characteristics: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400" dirty="0"/>
              <a:t>Works only on sorted data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400" dirty="0"/>
              <a:t>Eliminates half of the search space in each step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400" dirty="0"/>
              <a:t>Time Complexity: O(log n)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400" dirty="0"/>
              <a:t>Space Complexity: O(1)</a:t>
            </a:r>
          </a:p>
          <a:p>
            <a:r>
              <a:rPr lang="en-US" sz="3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Why Binary Search?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400" dirty="0"/>
              <a:t>Much faster than linear search for large datasets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400" dirty="0"/>
              <a:t>Fundamental algorithm in computer science</a:t>
            </a:r>
          </a:p>
        </p:txBody>
      </p:sp>
    </p:spTree>
    <p:extLst>
      <p:ext uri="{BB962C8B-B14F-4D97-AF65-F5344CB8AC3E}">
        <p14:creationId xmlns:p14="http://schemas.microsoft.com/office/powerpoint/2010/main" val="17487302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57D18F-7F8D-5CD2-C9C9-89989AC41A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76200"/>
            <a:ext cx="10018713" cy="1566333"/>
          </a:xfrm>
        </p:spPr>
        <p:txBody>
          <a:bodyPr/>
          <a:lstStyle/>
          <a:p>
            <a:r>
              <a:rPr lang="en-US" sz="4600" i="1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BINARY SEARCH - HOW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C00405-359F-23CC-B389-8A49D02B3E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42533" y="1261533"/>
            <a:ext cx="9860490" cy="5384800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10000"/>
              </a:lnSpc>
            </a:pPr>
            <a:r>
              <a:rPr lang="en-US" sz="36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Algorithm Steps: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Compare target with middle element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If equal → Element found!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If target &lt; middle → Search left half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If target &gt; middle → Search right half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Repeat until found or search space is empty</a:t>
            </a:r>
          </a:p>
          <a:p>
            <a:pPr>
              <a:lnSpc>
                <a:spcPct val="110000"/>
              </a:lnSpc>
            </a:pPr>
            <a:r>
              <a:rPr lang="en-US" sz="36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Example: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100" dirty="0"/>
              <a:t>Array: [2, 5, 8, 12, 16, 23, 38, 45, 56]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100" dirty="0"/>
              <a:t>Target: 23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100" dirty="0"/>
              <a:t>Step 1: Middle = 16 (23 &gt; 16, go right)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100" dirty="0"/>
              <a:t>Step 2: Middle = 38 (23 &lt; 38, go left)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100" dirty="0"/>
              <a:t>Step 3: Middle = 23 (Found!)</a:t>
            </a:r>
          </a:p>
        </p:txBody>
      </p:sp>
    </p:spTree>
    <p:extLst>
      <p:ext uri="{BB962C8B-B14F-4D97-AF65-F5344CB8AC3E}">
        <p14:creationId xmlns:p14="http://schemas.microsoft.com/office/powerpoint/2010/main" val="17684886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852EA-C9CE-508D-8EEE-DD72C4FC0F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1"/>
            <a:ext cx="10018713" cy="1346200"/>
          </a:xfrm>
        </p:spPr>
        <p:txBody>
          <a:bodyPr/>
          <a:lstStyle/>
          <a:p>
            <a:r>
              <a:rPr lang="en-US" sz="4600" i="1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SORTING ALGORITHMS - WHAT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C46035-BD3B-09FE-0AA6-B6330A461A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176868"/>
            <a:ext cx="10018713" cy="5401732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10000"/>
              </a:lnSpc>
            </a:pPr>
            <a:r>
              <a:rPr lang="en-US" sz="36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What is Sorting?</a:t>
            </a:r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Ø"/>
            </a:pPr>
            <a:r>
              <a:rPr lang="en-US" sz="2400" dirty="0"/>
              <a:t>Arranging elements in a specific order (ascending/descending)</a:t>
            </a:r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Ø"/>
            </a:pPr>
            <a:r>
              <a:rPr lang="en-US" sz="2400" dirty="0"/>
              <a:t>Essential operation in data processing</a:t>
            </a:r>
          </a:p>
          <a:p>
            <a:pPr>
              <a:lnSpc>
                <a:spcPct val="110000"/>
              </a:lnSpc>
            </a:pPr>
            <a:r>
              <a:rPr lang="en-US" sz="36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Three Algorithms:</a:t>
            </a:r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Ø"/>
            </a:pPr>
            <a:r>
              <a:rPr lang="en-US" sz="2400" dirty="0"/>
              <a:t>Bubble Sort</a:t>
            </a:r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Ø"/>
            </a:pPr>
            <a:r>
              <a:rPr lang="en-US" sz="2400" dirty="0"/>
              <a:t>Selection Sort</a:t>
            </a:r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Ø"/>
            </a:pPr>
            <a:r>
              <a:rPr lang="en-US" sz="2400" dirty="0"/>
              <a:t>Insertion Sort</a:t>
            </a:r>
          </a:p>
          <a:p>
            <a:pPr>
              <a:lnSpc>
                <a:spcPct val="110000"/>
              </a:lnSpc>
            </a:pPr>
            <a:r>
              <a:rPr lang="en-US" sz="36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Time Complexity Comparison:</a:t>
            </a:r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Ø"/>
            </a:pPr>
            <a:r>
              <a:rPr lang="en-US" sz="2400" dirty="0"/>
              <a:t>All three have worst-case: O(n²)</a:t>
            </a:r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Ø"/>
            </a:pPr>
            <a:r>
              <a:rPr lang="en-US" sz="2400" dirty="0"/>
              <a:t>Differ in best-case and average-case scenarios</a:t>
            </a:r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Ø"/>
            </a:pPr>
            <a:r>
              <a:rPr lang="en-US" sz="2400" dirty="0"/>
              <a:t>Performance varies based on input data characteristics</a:t>
            </a:r>
          </a:p>
        </p:txBody>
      </p:sp>
    </p:spTree>
    <p:extLst>
      <p:ext uri="{BB962C8B-B14F-4D97-AF65-F5344CB8AC3E}">
        <p14:creationId xmlns:p14="http://schemas.microsoft.com/office/powerpoint/2010/main" val="17076629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D65FFF-C9AC-C1F2-1100-3A1E1D60DB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203200"/>
            <a:ext cx="10018713" cy="1464733"/>
          </a:xfrm>
        </p:spPr>
        <p:txBody>
          <a:bodyPr/>
          <a:lstStyle/>
          <a:p>
            <a:r>
              <a:rPr lang="en-US" sz="4600" i="1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INSERTION SORT - HOW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D65448-C41E-D060-DE17-2B2CA2A25A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430868"/>
            <a:ext cx="10018713" cy="5071532"/>
          </a:xfrm>
        </p:spPr>
        <p:txBody>
          <a:bodyPr>
            <a:normAutofit lnSpcReduction="10000"/>
          </a:bodyPr>
          <a:lstStyle/>
          <a:p>
            <a:r>
              <a:rPr lang="en-US" sz="33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Why Insertion Sort?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200" dirty="0"/>
              <a:t>Best case: O(n) - when array is already sorted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200" dirty="0"/>
              <a:t>Average case: O(n²)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200" dirty="0"/>
              <a:t>Efficient for small datasets and nearly sorted data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200" dirty="0"/>
              <a:t>Stable algorithm (maintains relative order)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200" dirty="0"/>
              <a:t>Adaptive (performs well on partially sorted data)</a:t>
            </a:r>
          </a:p>
          <a:p>
            <a:r>
              <a:rPr lang="en-US" sz="33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How it Works: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200" dirty="0"/>
              <a:t>Build sorted array one element at a time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200" dirty="0"/>
              <a:t>Pick element and insert it in correct position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200" dirty="0"/>
              <a:t>Similar to sorting playing cards in hand</a:t>
            </a:r>
          </a:p>
        </p:txBody>
      </p:sp>
    </p:spTree>
    <p:extLst>
      <p:ext uri="{BB962C8B-B14F-4D97-AF65-F5344CB8AC3E}">
        <p14:creationId xmlns:p14="http://schemas.microsoft.com/office/powerpoint/2010/main" val="18865906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5DB477-0AD3-C6D9-8A02-21B5FF340C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84668"/>
            <a:ext cx="10018713" cy="1363134"/>
          </a:xfrm>
        </p:spPr>
        <p:txBody>
          <a:bodyPr/>
          <a:lstStyle/>
          <a:p>
            <a:r>
              <a:rPr lang="en-US" sz="4600" i="1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CALCULATOR 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2691D8-2E0B-DAC5-29E5-B4075D9725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117600"/>
            <a:ext cx="10018713" cy="5528733"/>
          </a:xfrm>
        </p:spPr>
        <p:txBody>
          <a:bodyPr>
            <a:normAutofit fontScale="85000" lnSpcReduction="20000"/>
          </a:bodyPr>
          <a:lstStyle/>
          <a:p>
            <a:r>
              <a:rPr lang="en-US" sz="36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Number System Module: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600" dirty="0"/>
              <a:t>Conversion between Binary, Octal, Decimal, Hexadecimal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600" dirty="0"/>
              <a:t>Arithmetic operations in different bases</a:t>
            </a:r>
          </a:p>
          <a:p>
            <a:r>
              <a:rPr lang="en-US" sz="36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Set Operations Module: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600" dirty="0"/>
              <a:t>Union, Intersection, Difference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600" dirty="0"/>
              <a:t>Cardinality calculation</a:t>
            </a:r>
          </a:p>
          <a:p>
            <a:r>
              <a:rPr lang="en-US" sz="36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Search Module: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600" dirty="0"/>
              <a:t>Binary Search implementation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600" dirty="0"/>
              <a:t>Step-by-step visualization</a:t>
            </a:r>
          </a:p>
          <a:p>
            <a:r>
              <a:rPr lang="en-US" sz="36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Sorting Module: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600" dirty="0"/>
              <a:t>Bubble Sort, Selection Sort, Insertion Sort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600" dirty="0"/>
              <a:t>Visual representation of sorting process</a:t>
            </a:r>
          </a:p>
        </p:txBody>
      </p:sp>
    </p:spTree>
    <p:extLst>
      <p:ext uri="{BB962C8B-B14F-4D97-AF65-F5344CB8AC3E}">
        <p14:creationId xmlns:p14="http://schemas.microsoft.com/office/powerpoint/2010/main" val="28902671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80418A-5CF2-43C7-9E1C-71E6BC3E4B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101600"/>
            <a:ext cx="10018713" cy="1363133"/>
          </a:xfrm>
        </p:spPr>
        <p:txBody>
          <a:bodyPr/>
          <a:lstStyle/>
          <a:p>
            <a:r>
              <a:rPr lang="en-US" sz="4600" i="1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APPLICATIONS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E4428D-4F97-C51A-5918-10F548C939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219200"/>
            <a:ext cx="10018713" cy="5376333"/>
          </a:xfrm>
        </p:spPr>
        <p:txBody>
          <a:bodyPr>
            <a:normAutofit/>
          </a:bodyPr>
          <a:lstStyle/>
          <a:p>
            <a:r>
              <a:rPr lang="en-US" sz="34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Real-World Applications:</a:t>
            </a:r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Ø"/>
            </a:pPr>
            <a:r>
              <a:rPr lang="en-US" sz="2400" dirty="0"/>
              <a:t>Number Systems:</a:t>
            </a:r>
          </a:p>
          <a:p>
            <a:pPr marL="0" indent="0">
              <a:buNone/>
            </a:pPr>
            <a:r>
              <a:rPr lang="en-US" dirty="0"/>
              <a:t>		- Computer architecture and memory addressing</a:t>
            </a:r>
          </a:p>
          <a:p>
            <a:pPr marL="0" indent="0">
              <a:buNone/>
            </a:pPr>
            <a:r>
              <a:rPr lang="en-US" dirty="0"/>
              <a:t>		- Network protocols and IP addressing</a:t>
            </a:r>
          </a:p>
          <a:p>
            <a:pPr marL="0" indent="0">
              <a:buNone/>
            </a:pPr>
            <a:r>
              <a:rPr lang="en-US" dirty="0"/>
              <a:t>		- Digital electronics and embedded systems</a:t>
            </a:r>
          </a:p>
          <a:p>
            <a:pPr marL="0" indent="0">
              <a:buNone/>
            </a:pPr>
            <a:endParaRPr lang="en-US" dirty="0"/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Ø"/>
            </a:pPr>
            <a:r>
              <a:rPr lang="en-US" sz="2400" dirty="0"/>
              <a:t>Set Theory:</a:t>
            </a:r>
          </a:p>
          <a:p>
            <a:pPr marL="0" indent="0">
              <a:buNone/>
            </a:pPr>
            <a:r>
              <a:rPr lang="en-US" dirty="0"/>
              <a:t>		- Database query operations</a:t>
            </a:r>
          </a:p>
          <a:p>
            <a:pPr marL="0" indent="0">
              <a:buNone/>
            </a:pPr>
            <a:r>
              <a:rPr lang="en-US" dirty="0"/>
              <a:t>		- Data analysis and filtering</a:t>
            </a:r>
          </a:p>
          <a:p>
            <a:pPr marL="0" indent="0">
              <a:buNone/>
            </a:pPr>
            <a:r>
              <a:rPr lang="en-US" dirty="0"/>
              <a:t>		- Machine learning (feature selection)</a:t>
            </a:r>
          </a:p>
        </p:txBody>
      </p:sp>
    </p:spTree>
    <p:extLst>
      <p:ext uri="{BB962C8B-B14F-4D97-AF65-F5344CB8AC3E}">
        <p14:creationId xmlns:p14="http://schemas.microsoft.com/office/powerpoint/2010/main" val="37871486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1B8782-19E3-43F2-D4FF-089661412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169334"/>
            <a:ext cx="10018713" cy="245533"/>
          </a:xfrm>
        </p:spPr>
        <p:txBody>
          <a:bodyPr>
            <a:normAutofit fontScale="90000"/>
          </a:bodyPr>
          <a:lstStyle/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C5E931-57AC-4C14-6549-A71372DD59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279401"/>
            <a:ext cx="10018713" cy="6121400"/>
          </a:xfrm>
        </p:spPr>
        <p:txBody>
          <a:bodyPr>
            <a:normAutofit/>
          </a:bodyPr>
          <a:lstStyle/>
          <a:p>
            <a:pPr lvl="1">
              <a:lnSpc>
                <a:spcPct val="110000"/>
              </a:lnSpc>
              <a:buFont typeface="Wingdings" panose="05000000000000000000" pitchFamily="2" charset="2"/>
              <a:buChar char="Ø"/>
            </a:pPr>
            <a:r>
              <a:rPr lang="en-US" sz="2400" dirty="0"/>
              <a:t>Searching &amp; Sorting:</a:t>
            </a:r>
          </a:p>
          <a:p>
            <a:pPr marL="0" indent="0">
              <a:buNone/>
            </a:pPr>
            <a:r>
              <a:rPr lang="en-US" dirty="0"/>
              <a:t>		- Data retrieval systems</a:t>
            </a:r>
          </a:p>
          <a:p>
            <a:pPr marL="0" indent="0">
              <a:buNone/>
            </a:pPr>
            <a:r>
              <a:rPr lang="en-US" dirty="0"/>
              <a:t>		- Big data processing</a:t>
            </a:r>
          </a:p>
          <a:p>
            <a:pPr marL="0" indent="0">
              <a:buNone/>
            </a:pPr>
            <a:r>
              <a:rPr lang="en-US" dirty="0"/>
              <a:t>		- Algorithm optimization in data science</a:t>
            </a:r>
          </a:p>
          <a:p>
            <a:pPr marL="0" indent="0">
              <a:buNone/>
            </a:pPr>
            <a:endParaRPr lang="en-US" dirty="0"/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Ø"/>
            </a:pPr>
            <a:r>
              <a:rPr lang="en-US" sz="2400" dirty="0"/>
              <a:t>Relevance to Data Science:</a:t>
            </a:r>
          </a:p>
          <a:p>
            <a:pPr marL="0" indent="0">
              <a:buNone/>
            </a:pPr>
            <a:r>
              <a:rPr lang="en-US" dirty="0"/>
              <a:t>		- Efficient data manipulation</a:t>
            </a:r>
          </a:p>
          <a:p>
            <a:pPr marL="0" indent="0">
              <a:buNone/>
            </a:pPr>
            <a:r>
              <a:rPr lang="en-US" dirty="0"/>
              <a:t>		- Algorithm design and analysis</a:t>
            </a:r>
          </a:p>
          <a:p>
            <a:pPr marL="0" indent="0">
              <a:buNone/>
            </a:pPr>
            <a:r>
              <a:rPr lang="en-US" dirty="0"/>
              <a:t>		- Foundation for advanced data structures</a:t>
            </a:r>
          </a:p>
        </p:txBody>
      </p:sp>
    </p:spTree>
    <p:extLst>
      <p:ext uri="{BB962C8B-B14F-4D97-AF65-F5344CB8AC3E}">
        <p14:creationId xmlns:p14="http://schemas.microsoft.com/office/powerpoint/2010/main" val="9047501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F05ADF-AEAC-5DF3-7620-B7FD9EB786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4EA5D3-31D6-2D13-C514-1817DE46F6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31919" y="1397000"/>
            <a:ext cx="7571103" cy="2599267"/>
          </a:xfrm>
        </p:spPr>
        <p:txBody>
          <a:bodyPr>
            <a:normAutofit/>
          </a:bodyPr>
          <a:lstStyle/>
          <a:p>
            <a:pPr algn="l"/>
            <a:r>
              <a:rPr lang="en-US" sz="6600" i="1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Thank You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F6209DA-4824-2DAC-6D54-743FE28A58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93467" y="4089400"/>
            <a:ext cx="4509555" cy="2599267"/>
          </a:xfrm>
        </p:spPr>
        <p:txBody>
          <a:bodyPr>
            <a:normAutofit/>
          </a:bodyPr>
          <a:lstStyle/>
          <a:p>
            <a:pPr algn="l"/>
            <a:r>
              <a:rPr lang="en-US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305788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Parallax</Template>
  <TotalTime>1004</TotalTime>
  <Words>978</Words>
  <Application>Microsoft Office PowerPoint</Application>
  <PresentationFormat>Widescreen</PresentationFormat>
  <Paragraphs>159</Paragraphs>
  <Slides>16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Aptos</vt:lpstr>
      <vt:lpstr>Arial</vt:lpstr>
      <vt:lpstr>Corbel</vt:lpstr>
      <vt:lpstr>Sans Serif Collection</vt:lpstr>
      <vt:lpstr>Wingdings</vt:lpstr>
      <vt:lpstr>Parallax</vt:lpstr>
      <vt:lpstr>Calculator- A Discrete Structures Project </vt:lpstr>
      <vt:lpstr>INTRODUCTION</vt:lpstr>
      <vt:lpstr>OBJECTIVES</vt:lpstr>
      <vt:lpstr>Core Concepts Implemented:</vt:lpstr>
      <vt:lpstr>NUMBER SYSTEMS - WHAT</vt:lpstr>
      <vt:lpstr>NUMBER SYSTEMS - HOW</vt:lpstr>
      <vt:lpstr>SET THEORY - WHAT</vt:lpstr>
      <vt:lpstr>SET THEORY - HOW</vt:lpstr>
      <vt:lpstr>SEARCHING ALGORITHMS - WHAT</vt:lpstr>
      <vt:lpstr>BINARY SEARCH - HOW</vt:lpstr>
      <vt:lpstr>SORTING ALGORITHMS - WHAT</vt:lpstr>
      <vt:lpstr>INSERTION SORT - HOW</vt:lpstr>
      <vt:lpstr>CALCULATOR FEATURES</vt:lpstr>
      <vt:lpstr>APPLICATIONS</vt:lpstr>
      <vt:lpstr>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Ahad Ali</dc:creator>
  <cp:lastModifiedBy>Ahad Ali</cp:lastModifiedBy>
  <cp:revision>14</cp:revision>
  <dcterms:created xsi:type="dcterms:W3CDTF">2025-11-22T16:06:25Z</dcterms:created>
  <dcterms:modified xsi:type="dcterms:W3CDTF">2025-11-23T08:52:14Z</dcterms:modified>
</cp:coreProperties>
</file>